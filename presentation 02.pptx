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62" r:id="rId6"/>
    <p:sldId id="263" r:id="rId7"/>
    <p:sldId id="264" r:id="rId8"/>
    <p:sldId id="265" r:id="rId9"/>
    <p:sldId id="266" r:id="rId10"/>
    <p:sldId id="267" r:id="rId11"/>
  </p:sldIdLst>
  <p:sldSz cx="18288000" cy="10287000"/>
  <p:notesSz cx="6858000" cy="9144000"/>
  <p:embeddedFontLst>
    <p:embeddedFont>
      <p:font typeface="League Spartan" panose="020B0604020202020204" charset="0"/>
      <p:regular r:id="rId12"/>
    </p:embeddedFont>
    <p:embeddedFont>
      <p:font typeface="Poppins" panose="00000500000000000000" pitchFamily="2" charset="0"/>
      <p:regular r:id="rId13"/>
    </p:embeddedFont>
    <p:embeddedFont>
      <p:font typeface="Poppins Bold" panose="020B0604020202020204" charset="0"/>
      <p:regular r:id="rId14"/>
    </p:embeddedFont>
    <p:embeddedFont>
      <p:font typeface="Roboto" panose="02000000000000000000" pitchFamily="2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946" y="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3" name="Group 3"/>
          <p:cNvGrpSpPr/>
          <p:nvPr/>
        </p:nvGrpSpPr>
        <p:grpSpPr>
          <a:xfrm>
            <a:off x="-1130300" y="4057750"/>
            <a:ext cx="3086100" cy="2171499"/>
            <a:chOff x="0" y="0"/>
            <a:chExt cx="812800" cy="5719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467343" y="4057750"/>
            <a:ext cx="3086100" cy="2171499"/>
            <a:chOff x="0" y="0"/>
            <a:chExt cx="812800" cy="57191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571917"/>
            </a:xfrm>
            <a:custGeom>
              <a:avLst/>
              <a:gdLst/>
              <a:ahLst/>
              <a:cxnLst/>
              <a:rect l="l" t="t" r="r" b="b"/>
              <a:pathLst>
                <a:path w="812800" h="571917">
                  <a:moveTo>
                    <a:pt x="609600" y="0"/>
                  </a:moveTo>
                  <a:cubicBezTo>
                    <a:pt x="721824" y="0"/>
                    <a:pt x="812800" y="128028"/>
                    <a:pt x="812800" y="285959"/>
                  </a:cubicBezTo>
                  <a:cubicBezTo>
                    <a:pt x="812800" y="443889"/>
                    <a:pt x="721824" y="571917"/>
                    <a:pt x="609600" y="571917"/>
                  </a:cubicBezTo>
                  <a:lnTo>
                    <a:pt x="203200" y="571917"/>
                  </a:lnTo>
                  <a:cubicBezTo>
                    <a:pt x="90976" y="571917"/>
                    <a:pt x="0" y="443889"/>
                    <a:pt x="0" y="285959"/>
                  </a:cubicBezTo>
                  <a:cubicBezTo>
                    <a:pt x="0" y="128028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812800" cy="6195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412750" y="498727"/>
            <a:ext cx="2377900" cy="2228936"/>
          </a:xfrm>
          <a:custGeom>
            <a:avLst/>
            <a:gdLst/>
            <a:ahLst/>
            <a:cxnLst/>
            <a:rect l="l" t="t" r="r" b="b"/>
            <a:pathLst>
              <a:path w="2377900" h="2228936">
                <a:moveTo>
                  <a:pt x="0" y="0"/>
                </a:moveTo>
                <a:lnTo>
                  <a:pt x="2377900" y="0"/>
                </a:lnTo>
                <a:lnTo>
                  <a:pt x="2377900" y="2228937"/>
                </a:lnTo>
                <a:lnTo>
                  <a:pt x="0" y="2228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06083" b="-271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0" name="TextBox 10"/>
          <p:cNvSpPr txBox="1"/>
          <p:nvPr/>
        </p:nvSpPr>
        <p:spPr>
          <a:xfrm>
            <a:off x="4220957" y="4496595"/>
            <a:ext cx="9846085" cy="15509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691"/>
              </a:lnSpc>
            </a:pPr>
            <a:r>
              <a:rPr lang="en-US" sz="9065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TRUESIGHT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880587" y="5842879"/>
            <a:ext cx="8526827" cy="4598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27"/>
              </a:lnSpc>
              <a:spcBef>
                <a:spcPct val="0"/>
              </a:spcBef>
            </a:pPr>
            <a:r>
              <a:rPr lang="en-US" sz="2519">
                <a:solidFill>
                  <a:srgbClr val="303642"/>
                </a:solidFill>
                <a:latin typeface="Poppins"/>
                <a:ea typeface="Poppins"/>
                <a:cs typeface="Poppins"/>
                <a:sym typeface="Poppins"/>
              </a:rPr>
              <a:t>AI - Powered Spoofing Detection System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TextBox 3"/>
          <p:cNvSpPr txBox="1"/>
          <p:nvPr/>
        </p:nvSpPr>
        <p:spPr>
          <a:xfrm>
            <a:off x="3077406" y="3583145"/>
            <a:ext cx="4805459" cy="32733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83"/>
              </a:lnSpc>
            </a:pPr>
            <a:r>
              <a:rPr lang="en-US" sz="2854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Group Members </a:t>
            </a:r>
          </a:p>
          <a:p>
            <a:pPr algn="just">
              <a:lnSpc>
                <a:spcPts val="2883"/>
              </a:lnSpc>
            </a:pPr>
            <a:endParaRPr lang="en-US" sz="2854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just">
              <a:lnSpc>
                <a:spcPts val="2883"/>
              </a:lnSpc>
            </a:pPr>
            <a:r>
              <a:rPr lang="en-US" sz="28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Hamayun Nasir     2022189</a:t>
            </a:r>
          </a:p>
          <a:p>
            <a:pPr algn="just">
              <a:lnSpc>
                <a:spcPts val="2883"/>
              </a:lnSpc>
            </a:pPr>
            <a:endParaRPr lang="en-US" sz="285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83"/>
              </a:lnSpc>
            </a:pPr>
            <a:r>
              <a:rPr lang="en-US" sz="28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Ammaid Saleem  2022344</a:t>
            </a:r>
          </a:p>
          <a:p>
            <a:pPr algn="just">
              <a:lnSpc>
                <a:spcPts val="2883"/>
              </a:lnSpc>
            </a:pPr>
            <a:endParaRPr lang="en-US" sz="285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83"/>
              </a:lnSpc>
            </a:pPr>
            <a:r>
              <a:rPr lang="en-US" sz="28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Asad Ali                   2022903</a:t>
            </a:r>
          </a:p>
          <a:p>
            <a:pPr algn="just">
              <a:lnSpc>
                <a:spcPts val="2883"/>
              </a:lnSpc>
            </a:pPr>
            <a:endParaRPr lang="en-US" sz="2854">
              <a:solidFill>
                <a:srgbClr val="000000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just">
              <a:lnSpc>
                <a:spcPts val="2883"/>
              </a:lnSpc>
              <a:spcBef>
                <a:spcPct val="0"/>
              </a:spcBef>
            </a:pPr>
            <a:r>
              <a:rPr lang="en-US" sz="285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Aizaz ur Rehman   2022078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539559" y="3592670"/>
            <a:ext cx="4127897" cy="1399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5"/>
              </a:lnSpc>
            </a:pPr>
            <a:r>
              <a:rPr lang="en-US" sz="351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Supervisor </a:t>
            </a:r>
          </a:p>
          <a:p>
            <a:pPr algn="ctr">
              <a:lnSpc>
                <a:spcPts val="3545"/>
              </a:lnSpc>
            </a:pPr>
            <a:endParaRPr lang="en-US" sz="351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45"/>
              </a:lnSpc>
              <a:spcBef>
                <a:spcPct val="0"/>
              </a:spcBef>
            </a:pPr>
            <a:r>
              <a:rPr lang="en-US" sz="3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M. Zain Siddiqui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9754639" y="5457326"/>
            <a:ext cx="5697736" cy="13991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45"/>
              </a:lnSpc>
            </a:pPr>
            <a:r>
              <a:rPr lang="en-US" sz="3510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 - Supervisor</a:t>
            </a:r>
          </a:p>
          <a:p>
            <a:pPr algn="ctr">
              <a:lnSpc>
                <a:spcPts val="3545"/>
              </a:lnSpc>
            </a:pPr>
            <a:endParaRPr lang="en-US" sz="3510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ctr">
              <a:lnSpc>
                <a:spcPts val="3545"/>
              </a:lnSpc>
              <a:spcBef>
                <a:spcPct val="0"/>
              </a:spcBef>
            </a:pPr>
            <a:r>
              <a:rPr lang="en-US" sz="351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Dr. Khurram Khan Jadoon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788824" y="9277350"/>
            <a:ext cx="11335345" cy="607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96"/>
              </a:lnSpc>
              <a:spcBef>
                <a:spcPct val="0"/>
              </a:spcBef>
            </a:pPr>
            <a:r>
              <a:rPr lang="en-US" sz="22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Faculty of Computer Sciences and Engineering</a:t>
            </a:r>
          </a:p>
          <a:p>
            <a:pPr algn="ctr">
              <a:lnSpc>
                <a:spcPts val="2296"/>
              </a:lnSpc>
              <a:spcBef>
                <a:spcPct val="0"/>
              </a:spcBef>
            </a:pPr>
            <a:r>
              <a:rPr lang="en-US" sz="2273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Ghulam Ishaq Khan Institute of Engineering Sciences and Technology, Pakistan</a:t>
            </a:r>
          </a:p>
        </p:txBody>
      </p:sp>
      <p:sp>
        <p:nvSpPr>
          <p:cNvPr id="7" name="Freeform 7"/>
          <p:cNvSpPr/>
          <p:nvPr/>
        </p:nvSpPr>
        <p:spPr>
          <a:xfrm>
            <a:off x="412750" y="498727"/>
            <a:ext cx="2377900" cy="2228936"/>
          </a:xfrm>
          <a:custGeom>
            <a:avLst/>
            <a:gdLst/>
            <a:ahLst/>
            <a:cxnLst/>
            <a:rect l="l" t="t" r="r" b="b"/>
            <a:pathLst>
              <a:path w="2377900" h="2228936">
                <a:moveTo>
                  <a:pt x="0" y="0"/>
                </a:moveTo>
                <a:lnTo>
                  <a:pt x="2377900" y="0"/>
                </a:lnTo>
                <a:lnTo>
                  <a:pt x="2377900" y="2228937"/>
                </a:lnTo>
                <a:lnTo>
                  <a:pt x="0" y="22289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06083" b="-271"/>
            </a:stretch>
          </a:blipFill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1770398" y="3667388"/>
            <a:ext cx="2257134" cy="2257134"/>
          </a:xfrm>
          <a:custGeom>
            <a:avLst/>
            <a:gdLst/>
            <a:ahLst/>
            <a:cxnLst/>
            <a:rect l="l" t="t" r="r" b="b"/>
            <a:pathLst>
              <a:path w="2257134" h="2257134">
                <a:moveTo>
                  <a:pt x="0" y="0"/>
                </a:moveTo>
                <a:lnTo>
                  <a:pt x="2257134" y="0"/>
                </a:lnTo>
                <a:lnTo>
                  <a:pt x="2257134" y="2257134"/>
                </a:lnTo>
                <a:lnTo>
                  <a:pt x="0" y="225713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1941951" y="5958313"/>
            <a:ext cx="1914027" cy="51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6"/>
              </a:lnSpc>
              <a:spcBef>
                <a:spcPct val="0"/>
              </a:spcBef>
            </a:pPr>
            <a:r>
              <a:rPr lang="en-US" sz="30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PROBLEM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6503512"/>
            <a:ext cx="4224097" cy="2754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4"/>
              </a:lnSpc>
              <a:spcBef>
                <a:spcPct val="0"/>
              </a:spcBef>
            </a:pPr>
            <a:r>
              <a:rPr lang="en-US" sz="19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AI-generated deepfakes are becoming more realistic and harder to detect, leading to risks like misinformation, identity fraud, and loss of digital trust. Existing solutions lack multi-modal detection and reliable forensic verification.</a:t>
            </a:r>
          </a:p>
        </p:txBody>
      </p:sp>
      <p:sp>
        <p:nvSpPr>
          <p:cNvPr id="6" name="Freeform 6"/>
          <p:cNvSpPr/>
          <p:nvPr/>
        </p:nvSpPr>
        <p:spPr>
          <a:xfrm>
            <a:off x="7768780" y="3667388"/>
            <a:ext cx="2257134" cy="2257134"/>
          </a:xfrm>
          <a:custGeom>
            <a:avLst/>
            <a:gdLst/>
            <a:ahLst/>
            <a:cxnLst/>
            <a:rect l="l" t="t" r="r" b="b"/>
            <a:pathLst>
              <a:path w="2257134" h="2257134">
                <a:moveTo>
                  <a:pt x="0" y="0"/>
                </a:moveTo>
                <a:lnTo>
                  <a:pt x="2257134" y="0"/>
                </a:lnTo>
                <a:lnTo>
                  <a:pt x="2257134" y="2257134"/>
                </a:lnTo>
                <a:lnTo>
                  <a:pt x="0" y="22571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7" name="TextBox 7"/>
          <p:cNvSpPr txBox="1"/>
          <p:nvPr/>
        </p:nvSpPr>
        <p:spPr>
          <a:xfrm>
            <a:off x="7430672" y="5958313"/>
            <a:ext cx="3055364" cy="51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6"/>
              </a:lnSpc>
              <a:spcBef>
                <a:spcPct val="0"/>
              </a:spcBef>
            </a:pPr>
            <a:r>
              <a:rPr lang="en-US" sz="30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SOLUTION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899367" y="6503512"/>
            <a:ext cx="4402425" cy="2754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4"/>
              </a:lnSpc>
              <a:spcBef>
                <a:spcPct val="0"/>
              </a:spcBef>
            </a:pPr>
            <a:r>
              <a:rPr lang="en-US" sz="19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TrueSight is an AI-powered system that detects deepfakes across video, audio, and multilingual content using advanced machine learning and forensic analysis. It provides real-time detection, secure evidence tracking, and scalable enterprise deployment.</a:t>
            </a:r>
          </a:p>
        </p:txBody>
      </p:sp>
      <p:sp>
        <p:nvSpPr>
          <p:cNvPr id="9" name="Freeform 9"/>
          <p:cNvSpPr/>
          <p:nvPr/>
        </p:nvSpPr>
        <p:spPr>
          <a:xfrm>
            <a:off x="13656119" y="3667388"/>
            <a:ext cx="2808583" cy="2257134"/>
          </a:xfrm>
          <a:custGeom>
            <a:avLst/>
            <a:gdLst/>
            <a:ahLst/>
            <a:cxnLst/>
            <a:rect l="l" t="t" r="r" b="b"/>
            <a:pathLst>
              <a:path w="2808583" h="2257134">
                <a:moveTo>
                  <a:pt x="0" y="0"/>
                </a:moveTo>
                <a:lnTo>
                  <a:pt x="2808583" y="0"/>
                </a:lnTo>
                <a:lnTo>
                  <a:pt x="2808583" y="2257134"/>
                </a:lnTo>
                <a:lnTo>
                  <a:pt x="0" y="22571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0" name="TextBox 10"/>
          <p:cNvSpPr txBox="1"/>
          <p:nvPr/>
        </p:nvSpPr>
        <p:spPr>
          <a:xfrm>
            <a:off x="13774764" y="5958313"/>
            <a:ext cx="2342220" cy="5123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6"/>
              </a:lnSpc>
              <a:spcBef>
                <a:spcPct val="0"/>
              </a:spcBef>
            </a:pPr>
            <a:r>
              <a:rPr lang="en-US" sz="3004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Core Values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772544" y="6503512"/>
            <a:ext cx="4575733" cy="27547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64"/>
              </a:lnSpc>
              <a:spcBef>
                <a:spcPct val="0"/>
              </a:spcBef>
            </a:pPr>
            <a:r>
              <a:rPr lang="en-US" sz="1974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project focuses on accuracy, security, transparency, and scalability. We aim to ensure trustworthy digital media verification through reliable AI detection, strong cybersecurity practices, and legally admissible evidence handling.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4362937" y="1027493"/>
            <a:ext cx="9644953" cy="1253343"/>
            <a:chOff x="0" y="0"/>
            <a:chExt cx="2540235" cy="330099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540234" cy="330099"/>
            </a:xfrm>
            <a:custGeom>
              <a:avLst/>
              <a:gdLst/>
              <a:ahLst/>
              <a:cxnLst/>
              <a:rect l="l" t="t" r="r" b="b"/>
              <a:pathLst>
                <a:path w="2540234" h="330099">
                  <a:moveTo>
                    <a:pt x="20067" y="0"/>
                  </a:moveTo>
                  <a:lnTo>
                    <a:pt x="2520167" y="0"/>
                  </a:lnTo>
                  <a:cubicBezTo>
                    <a:pt x="2531250" y="0"/>
                    <a:pt x="2540234" y="8984"/>
                    <a:pt x="2540234" y="20067"/>
                  </a:cubicBezTo>
                  <a:lnTo>
                    <a:pt x="2540234" y="310031"/>
                  </a:lnTo>
                  <a:cubicBezTo>
                    <a:pt x="2540234" y="321114"/>
                    <a:pt x="2531250" y="330099"/>
                    <a:pt x="2520167" y="330099"/>
                  </a:cubicBezTo>
                  <a:lnTo>
                    <a:pt x="20067" y="330099"/>
                  </a:lnTo>
                  <a:cubicBezTo>
                    <a:pt x="8984" y="330099"/>
                    <a:pt x="0" y="321114"/>
                    <a:pt x="0" y="310031"/>
                  </a:cubicBezTo>
                  <a:lnTo>
                    <a:pt x="0" y="20067"/>
                  </a:lnTo>
                  <a:cubicBezTo>
                    <a:pt x="0" y="8984"/>
                    <a:pt x="8984" y="0"/>
                    <a:pt x="20067" y="0"/>
                  </a:cubicBezTo>
                  <a:close/>
                </a:path>
              </a:pathLst>
            </a:custGeom>
            <a:ln w="19050" cap="rnd">
              <a:solidFill>
                <a:srgbClr val="000000"/>
              </a:solidFill>
              <a:prstDash val="solid"/>
              <a:round/>
            </a:ln>
          </p:spPr>
          <p:txBody>
            <a:bodyPr/>
            <a:lstStyle/>
            <a:p>
              <a:endParaRPr lang="en-PK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76200"/>
              <a:ext cx="2540235" cy="40629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700621" y="1261661"/>
            <a:ext cx="14886759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40"/>
              </a:lnSpc>
              <a:spcBef>
                <a:spcPct val="0"/>
              </a:spcBef>
            </a:pPr>
            <a:r>
              <a:rPr lang="en-US" sz="67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PROJECT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EFFFF">
                <a:alpha val="100000"/>
              </a:srgbClr>
            </a:gs>
            <a:gs pos="100000">
              <a:srgbClr val="C5C5C5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028700" y="945773"/>
            <a:ext cx="5660637" cy="11540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32"/>
              </a:lnSpc>
            </a:pPr>
            <a:r>
              <a:rPr lang="en-US" sz="5308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TECHNOLOGIES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1028700" y="190485"/>
            <a:ext cx="5660637" cy="1129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736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MODERN TOOLS &amp;</a:t>
            </a:r>
          </a:p>
        </p:txBody>
      </p:sp>
      <p:sp>
        <p:nvSpPr>
          <p:cNvPr id="4" name="Freeform 4"/>
          <p:cNvSpPr/>
          <p:nvPr/>
        </p:nvSpPr>
        <p:spPr>
          <a:xfrm>
            <a:off x="2111720" y="2766593"/>
            <a:ext cx="2278249" cy="2278249"/>
          </a:xfrm>
          <a:custGeom>
            <a:avLst/>
            <a:gdLst/>
            <a:ahLst/>
            <a:cxnLst/>
            <a:rect l="l" t="t" r="r" b="b"/>
            <a:pathLst>
              <a:path w="2278249" h="2278249">
                <a:moveTo>
                  <a:pt x="0" y="0"/>
                </a:moveTo>
                <a:lnTo>
                  <a:pt x="2278249" y="0"/>
                </a:lnTo>
                <a:lnTo>
                  <a:pt x="2278249" y="2278249"/>
                </a:lnTo>
                <a:lnTo>
                  <a:pt x="0" y="22782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5" name="TextBox 5"/>
          <p:cNvSpPr txBox="1"/>
          <p:nvPr/>
        </p:nvSpPr>
        <p:spPr>
          <a:xfrm>
            <a:off x="2111720" y="4978167"/>
            <a:ext cx="2278249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BACKEND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673609" y="5641830"/>
            <a:ext cx="3373615" cy="2193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PYTHON 3.13, FASTAPI, PYTORCH, LNCLIP, WAV2VEC2, PHONEME-BASED NLP MODEL, POSTGRESQL</a:t>
            </a:r>
          </a:p>
        </p:txBody>
      </p:sp>
      <p:sp>
        <p:nvSpPr>
          <p:cNvPr id="7" name="Freeform 7"/>
          <p:cNvSpPr/>
          <p:nvPr/>
        </p:nvSpPr>
        <p:spPr>
          <a:xfrm>
            <a:off x="7684188" y="2757813"/>
            <a:ext cx="2306060" cy="2278249"/>
          </a:xfrm>
          <a:custGeom>
            <a:avLst/>
            <a:gdLst/>
            <a:ahLst/>
            <a:cxnLst/>
            <a:rect l="l" t="t" r="r" b="b"/>
            <a:pathLst>
              <a:path w="2306060" h="2278249">
                <a:moveTo>
                  <a:pt x="0" y="0"/>
                </a:moveTo>
                <a:lnTo>
                  <a:pt x="2306059" y="0"/>
                </a:lnTo>
                <a:lnTo>
                  <a:pt x="2306059" y="2278249"/>
                </a:lnTo>
                <a:lnTo>
                  <a:pt x="0" y="22782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220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8" name="TextBox 8"/>
          <p:cNvSpPr txBox="1"/>
          <p:nvPr/>
        </p:nvSpPr>
        <p:spPr>
          <a:xfrm>
            <a:off x="7555100" y="4969387"/>
            <a:ext cx="2564235" cy="596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FRONTEND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178587" y="5633049"/>
            <a:ext cx="3317260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REACT 18, MODERN UI COMPONENTS, INTERACTIVE CHARTS &amp; ANALYTICS</a:t>
            </a:r>
          </a:p>
        </p:txBody>
      </p:sp>
      <p:sp>
        <p:nvSpPr>
          <p:cNvPr id="10" name="Freeform 10"/>
          <p:cNvSpPr/>
          <p:nvPr/>
        </p:nvSpPr>
        <p:spPr>
          <a:xfrm>
            <a:off x="13618202" y="2726993"/>
            <a:ext cx="2278249" cy="2278249"/>
          </a:xfrm>
          <a:custGeom>
            <a:avLst/>
            <a:gdLst/>
            <a:ahLst/>
            <a:cxnLst/>
            <a:rect l="l" t="t" r="r" b="b"/>
            <a:pathLst>
              <a:path w="2278249" h="2278249">
                <a:moveTo>
                  <a:pt x="0" y="0"/>
                </a:moveTo>
                <a:lnTo>
                  <a:pt x="2278249" y="0"/>
                </a:lnTo>
                <a:lnTo>
                  <a:pt x="2278249" y="2278249"/>
                </a:lnTo>
                <a:lnTo>
                  <a:pt x="0" y="227824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1" name="TextBox 11"/>
          <p:cNvSpPr txBox="1"/>
          <p:nvPr/>
        </p:nvSpPr>
        <p:spPr>
          <a:xfrm>
            <a:off x="12851186" y="4938567"/>
            <a:ext cx="4540418" cy="6059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  <a:spcBef>
                <a:spcPct val="0"/>
              </a:spcBef>
            </a:pPr>
            <a:r>
              <a:rPr lang="en-US" sz="3500" b="1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INFRASTRUCTURE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629448" y="5602230"/>
            <a:ext cx="4540418" cy="307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MICROSERVICES ARCHITECTURE, DOCKER, KUBERNETES, RTMP/HTTP STREAMING, BLOCKCHAIN LEDGER, SMART CONTRACTS, ZERO TRUST SECURITY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TextBox 3"/>
          <p:cNvSpPr txBox="1"/>
          <p:nvPr/>
        </p:nvSpPr>
        <p:spPr>
          <a:xfrm>
            <a:off x="1028700" y="911631"/>
            <a:ext cx="5898349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431"/>
              </a:lnSpc>
            </a:pPr>
            <a:r>
              <a:rPr lang="en-US" sz="530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ARCHITECTURE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118553"/>
            <a:ext cx="5634574" cy="89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212"/>
              </a:lnSpc>
            </a:pPr>
            <a:r>
              <a:rPr lang="en-US" sz="515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SOLUTION</a:t>
            </a:r>
          </a:p>
        </p:txBody>
      </p:sp>
      <p:sp>
        <p:nvSpPr>
          <p:cNvPr id="5" name="Freeform 5"/>
          <p:cNvSpPr/>
          <p:nvPr/>
        </p:nvSpPr>
        <p:spPr>
          <a:xfrm>
            <a:off x="0" y="3240277"/>
            <a:ext cx="18288000" cy="4788766"/>
          </a:xfrm>
          <a:custGeom>
            <a:avLst/>
            <a:gdLst/>
            <a:ahLst/>
            <a:cxnLst/>
            <a:rect l="l" t="t" r="r" b="b"/>
            <a:pathLst>
              <a:path w="18288000" h="4788766">
                <a:moveTo>
                  <a:pt x="0" y="0"/>
                </a:moveTo>
                <a:lnTo>
                  <a:pt x="18288000" y="0"/>
                </a:lnTo>
                <a:lnTo>
                  <a:pt x="18288000" y="4788765"/>
                </a:lnTo>
                <a:lnTo>
                  <a:pt x="0" y="478876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" t="-363" b="-363"/>
            </a:stretch>
          </a:blipFill>
        </p:spPr>
        <p:txBody>
          <a:bodyPr/>
          <a:lstStyle/>
          <a:p>
            <a:endParaRPr lang="en-PK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98701" y="-688933"/>
            <a:ext cx="20826378" cy="1141652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10586708" y="330209"/>
            <a:ext cx="7111637" cy="9626582"/>
          </a:xfrm>
          <a:custGeom>
            <a:avLst/>
            <a:gdLst/>
            <a:ahLst/>
            <a:cxnLst/>
            <a:rect l="l" t="t" r="r" b="b"/>
            <a:pathLst>
              <a:path w="7111637" h="9626582">
                <a:moveTo>
                  <a:pt x="0" y="0"/>
                </a:moveTo>
                <a:lnTo>
                  <a:pt x="7111637" y="0"/>
                </a:lnTo>
                <a:lnTo>
                  <a:pt x="7111637" y="9626582"/>
                </a:lnTo>
                <a:lnTo>
                  <a:pt x="0" y="9626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1028700" y="349250"/>
            <a:ext cx="20618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POSTER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28700" y="952500"/>
            <a:ext cx="2061865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DESIGN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30598" y="1446836"/>
            <a:ext cx="11706082" cy="889651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500396" y="2303853"/>
            <a:ext cx="17287207" cy="5985695"/>
          </a:xfrm>
          <a:custGeom>
            <a:avLst/>
            <a:gdLst/>
            <a:ahLst/>
            <a:cxnLst/>
            <a:rect l="l" t="t" r="r" b="b"/>
            <a:pathLst>
              <a:path w="17287207" h="5985695">
                <a:moveTo>
                  <a:pt x="0" y="0"/>
                </a:moveTo>
                <a:lnTo>
                  <a:pt x="17287208" y="0"/>
                </a:lnTo>
                <a:lnTo>
                  <a:pt x="17287208" y="5985696"/>
                </a:lnTo>
                <a:lnTo>
                  <a:pt x="0" y="598569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TextBox 4"/>
          <p:cNvSpPr txBox="1"/>
          <p:nvPr/>
        </p:nvSpPr>
        <p:spPr>
          <a:xfrm>
            <a:off x="500396" y="309043"/>
            <a:ext cx="3847802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1"/>
              </a:lnSpc>
              <a:spcBef>
                <a:spcPct val="0"/>
              </a:spcBef>
            </a:pPr>
            <a:r>
              <a:rPr lang="en-US" sz="5308" b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PROGRESS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00396" y="1117183"/>
            <a:ext cx="3847802" cy="9129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431"/>
              </a:lnSpc>
              <a:spcBef>
                <a:spcPct val="0"/>
              </a:spcBef>
            </a:pPr>
            <a:r>
              <a:rPr lang="en-US" sz="5308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TRACKING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3" name="Freeform 3"/>
          <p:cNvSpPr/>
          <p:nvPr/>
        </p:nvSpPr>
        <p:spPr>
          <a:xfrm>
            <a:off x="595017" y="649288"/>
            <a:ext cx="846498" cy="758825"/>
          </a:xfrm>
          <a:custGeom>
            <a:avLst/>
            <a:gdLst/>
            <a:ahLst/>
            <a:cxnLst/>
            <a:rect l="l" t="t" r="r" b="b"/>
            <a:pathLst>
              <a:path w="846498" h="758825">
                <a:moveTo>
                  <a:pt x="0" y="0"/>
                </a:moveTo>
                <a:lnTo>
                  <a:pt x="846498" y="0"/>
                </a:lnTo>
                <a:lnTo>
                  <a:pt x="846498" y="758824"/>
                </a:lnTo>
                <a:lnTo>
                  <a:pt x="0" y="75882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42049" t="-8614" r="-14549" b="-34508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4" name="Freeform 4"/>
          <p:cNvSpPr/>
          <p:nvPr/>
        </p:nvSpPr>
        <p:spPr>
          <a:xfrm>
            <a:off x="1441515" y="2324667"/>
            <a:ext cx="14982093" cy="5560982"/>
          </a:xfrm>
          <a:custGeom>
            <a:avLst/>
            <a:gdLst/>
            <a:ahLst/>
            <a:cxnLst/>
            <a:rect l="l" t="t" r="r" b="b"/>
            <a:pathLst>
              <a:path w="14982093" h="5560982">
                <a:moveTo>
                  <a:pt x="0" y="0"/>
                </a:moveTo>
                <a:lnTo>
                  <a:pt x="14982093" y="0"/>
                </a:lnTo>
                <a:lnTo>
                  <a:pt x="14982093" y="5560981"/>
                </a:lnTo>
                <a:lnTo>
                  <a:pt x="0" y="556098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89263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5" name="TextBox 5"/>
          <p:cNvSpPr txBox="1"/>
          <p:nvPr/>
        </p:nvSpPr>
        <p:spPr>
          <a:xfrm>
            <a:off x="3901556" y="544513"/>
            <a:ext cx="4858048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REPOSITORY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41515" y="544513"/>
            <a:ext cx="2935893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303642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GITHUB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85242" y="8275126"/>
            <a:ext cx="17517517" cy="5238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sz="2999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https://github.com/Ammaidsahu/TrueSight-AI---Powered-Spoofing-Detection-System-.git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259" b="-9259"/>
            </a:stretch>
          </a:blipFill>
        </p:spPr>
        <p:txBody>
          <a:bodyPr/>
          <a:lstStyle/>
          <a:p>
            <a:endParaRPr lang="en-PK"/>
          </a:p>
        </p:txBody>
      </p:sp>
      <p:grpSp>
        <p:nvGrpSpPr>
          <p:cNvPr id="3" name="Group 3"/>
          <p:cNvGrpSpPr/>
          <p:nvPr/>
        </p:nvGrpSpPr>
        <p:grpSpPr>
          <a:xfrm>
            <a:off x="-910980" y="4182197"/>
            <a:ext cx="5245100" cy="1332778"/>
            <a:chOff x="0" y="0"/>
            <a:chExt cx="1381426" cy="35102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381426" cy="351020"/>
            </a:xfrm>
            <a:custGeom>
              <a:avLst/>
              <a:gdLst/>
              <a:ahLst/>
              <a:cxnLst/>
              <a:rect l="l" t="t" r="r" b="b"/>
              <a:pathLst>
                <a:path w="1381426" h="351020">
                  <a:moveTo>
                    <a:pt x="75277" y="0"/>
                  </a:moveTo>
                  <a:lnTo>
                    <a:pt x="1306148" y="0"/>
                  </a:lnTo>
                  <a:cubicBezTo>
                    <a:pt x="1326113" y="0"/>
                    <a:pt x="1345260" y="7931"/>
                    <a:pt x="1359377" y="22048"/>
                  </a:cubicBezTo>
                  <a:cubicBezTo>
                    <a:pt x="1373495" y="36166"/>
                    <a:pt x="1381426" y="55313"/>
                    <a:pt x="1381426" y="75277"/>
                  </a:cubicBezTo>
                  <a:lnTo>
                    <a:pt x="1381426" y="275742"/>
                  </a:lnTo>
                  <a:cubicBezTo>
                    <a:pt x="1381426" y="295707"/>
                    <a:pt x="1373495" y="314854"/>
                    <a:pt x="1359377" y="328971"/>
                  </a:cubicBezTo>
                  <a:cubicBezTo>
                    <a:pt x="1345260" y="343089"/>
                    <a:pt x="1326113" y="351020"/>
                    <a:pt x="1306148" y="351020"/>
                  </a:cubicBezTo>
                  <a:lnTo>
                    <a:pt x="75277" y="351020"/>
                  </a:lnTo>
                  <a:cubicBezTo>
                    <a:pt x="55313" y="351020"/>
                    <a:pt x="36166" y="343089"/>
                    <a:pt x="22048" y="328971"/>
                  </a:cubicBezTo>
                  <a:cubicBezTo>
                    <a:pt x="7931" y="314854"/>
                    <a:pt x="0" y="295707"/>
                    <a:pt x="0" y="275742"/>
                  </a:cubicBezTo>
                  <a:lnTo>
                    <a:pt x="0" y="75277"/>
                  </a:lnTo>
                  <a:cubicBezTo>
                    <a:pt x="0" y="55313"/>
                    <a:pt x="7931" y="36166"/>
                    <a:pt x="22048" y="22048"/>
                  </a:cubicBezTo>
                  <a:cubicBezTo>
                    <a:pt x="36166" y="7931"/>
                    <a:pt x="55313" y="0"/>
                    <a:pt x="75277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381426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3528920" y="4182197"/>
            <a:ext cx="5118100" cy="1332778"/>
            <a:chOff x="0" y="0"/>
            <a:chExt cx="1347977" cy="35102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347977" cy="351020"/>
            </a:xfrm>
            <a:custGeom>
              <a:avLst/>
              <a:gdLst/>
              <a:ahLst/>
              <a:cxnLst/>
              <a:rect l="l" t="t" r="r" b="b"/>
              <a:pathLst>
                <a:path w="1347977" h="351020">
                  <a:moveTo>
                    <a:pt x="77145" y="0"/>
                  </a:moveTo>
                  <a:lnTo>
                    <a:pt x="1270832" y="0"/>
                  </a:lnTo>
                  <a:cubicBezTo>
                    <a:pt x="1291292" y="0"/>
                    <a:pt x="1310914" y="8128"/>
                    <a:pt x="1325382" y="22595"/>
                  </a:cubicBezTo>
                  <a:cubicBezTo>
                    <a:pt x="1339849" y="37063"/>
                    <a:pt x="1347977" y="56685"/>
                    <a:pt x="1347977" y="77145"/>
                  </a:cubicBezTo>
                  <a:lnTo>
                    <a:pt x="1347977" y="273874"/>
                  </a:lnTo>
                  <a:cubicBezTo>
                    <a:pt x="1347977" y="316480"/>
                    <a:pt x="1313438" y="351020"/>
                    <a:pt x="1270832" y="351020"/>
                  </a:cubicBezTo>
                  <a:lnTo>
                    <a:pt x="77145" y="351020"/>
                  </a:lnTo>
                  <a:cubicBezTo>
                    <a:pt x="34539" y="351020"/>
                    <a:pt x="0" y="316480"/>
                    <a:pt x="0" y="273874"/>
                  </a:cubicBezTo>
                  <a:lnTo>
                    <a:pt x="0" y="77145"/>
                  </a:lnTo>
                  <a:cubicBezTo>
                    <a:pt x="0" y="34539"/>
                    <a:pt x="34539" y="0"/>
                    <a:pt x="77145" y="0"/>
                  </a:cubicBezTo>
                  <a:close/>
                </a:path>
              </a:pathLst>
            </a:custGeom>
            <a:solidFill>
              <a:srgbClr val="004AAD"/>
            </a:solidFill>
          </p:spPr>
          <p:txBody>
            <a:bodyPr/>
            <a:lstStyle/>
            <a:p>
              <a:endParaRPr lang="en-PK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1347977" cy="39864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38092" y="295996"/>
            <a:ext cx="2646899" cy="2481084"/>
          </a:xfrm>
          <a:custGeom>
            <a:avLst/>
            <a:gdLst/>
            <a:ahLst/>
            <a:cxnLst/>
            <a:rect l="l" t="t" r="r" b="b"/>
            <a:pathLst>
              <a:path w="2646899" h="2481084">
                <a:moveTo>
                  <a:pt x="0" y="0"/>
                </a:moveTo>
                <a:lnTo>
                  <a:pt x="2646899" y="0"/>
                </a:lnTo>
                <a:lnTo>
                  <a:pt x="2646899" y="2481084"/>
                </a:lnTo>
                <a:lnTo>
                  <a:pt x="0" y="248108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06083" b="-271"/>
            </a:stretch>
          </a:blipFill>
        </p:spPr>
        <p:txBody>
          <a:bodyPr/>
          <a:lstStyle/>
          <a:p>
            <a:endParaRPr lang="en-PK"/>
          </a:p>
        </p:txBody>
      </p:sp>
      <p:sp>
        <p:nvSpPr>
          <p:cNvPr id="10" name="TextBox 10"/>
          <p:cNvSpPr txBox="1"/>
          <p:nvPr/>
        </p:nvSpPr>
        <p:spPr>
          <a:xfrm>
            <a:off x="4720818" y="4211494"/>
            <a:ext cx="8421405" cy="1560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714"/>
              </a:lnSpc>
            </a:pPr>
            <a:r>
              <a:rPr lang="en-US" sz="9081" b="1">
                <a:solidFill>
                  <a:srgbClr val="004AAD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250</Words>
  <Application>Microsoft Office PowerPoint</Application>
  <PresentationFormat>Custom</PresentationFormat>
  <Paragraphs>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League Spartan</vt:lpstr>
      <vt:lpstr>Arial</vt:lpstr>
      <vt:lpstr>Poppins Bold</vt:lpstr>
      <vt:lpstr>Calibri</vt:lpstr>
      <vt:lpstr>Roboto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TRUESIGHT</dc:title>
  <dc:creator>Rasool Bux</dc:creator>
  <cp:lastModifiedBy>Rasool Bux</cp:lastModifiedBy>
  <cp:revision>2</cp:revision>
  <dcterms:created xsi:type="dcterms:W3CDTF">2006-08-16T00:00:00Z</dcterms:created>
  <dcterms:modified xsi:type="dcterms:W3CDTF">2026-06-30T16:26:23Z</dcterms:modified>
  <dc:identifier>DAHBsHJh2Ew</dc:identifier>
</cp:coreProperties>
</file>